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werkduesseldorf/-/blob/7f1aaa8b85f63910e6b08ce3aa93266c59cb0934/_posts/2026-10-23-holzbalkendecke-ertuechtigen-statt-austauschen.md" TargetMode="External"/><Relationship Id="rId3" Type="http://schemas.openxmlformats.org/officeDocument/2006/relationships/hyperlink" Target="https://holzundhaus.github.io/holzwerkduesseldorf/dateien/minimax-e1366e1d7df06b037cb1150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Holzbalkendecke ertüchtigen statt austauschen: Wann dieser Weg möglich ist · Erklärende Präsentation</a:t>
            </a:r>
          </a:p>
        </p:txBody>
      </p:sp>
      <p:sp>
        <p:nvSpPr>
          <p:cNvPr id="3" name="Content Placeholder 2"/>
          <p:cNvSpPr>
            <a:spLocks noGrp="1"/>
          </p:cNvSpPr>
          <p:nvPr>
            <p:ph idx="1"/>
          </p:nvPr>
        </p:nvSpPr>
        <p:spPr/>
        <p:txBody>
          <a:bodyPr/>
          <a:lstStyle/>
          <a:p>
            <a:r>
              <a:t>Überblick: Die Frage, ob eine Holzbalkendecke erhalten, verstärkt oder vollständig ersetzt werden muss, lässt sich nicht allein anhand des sichtbaren Zustands eines einzelnen Balkens beantworten. Eine belastbare Entscheidung berücksichtigt das gesamte Zusammenspiel aus Balken, Auflagern, Aussteifung, Deckenaufbau und angrenzenden Bauteilen. Der folgende Leitfaden ordnet die wichtigsten Prüf-punkte ein und zeigt, welche Unterlagen für eine fachliche Beurteilung vorliegen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Ertüchtigung grundsätzlich infrage kommt</a:t>
            </a:r>
          </a:p>
        </p:txBody>
      </p:sp>
      <p:sp>
        <p:nvSpPr>
          <p:cNvPr id="3" name="Content Placeholder 2"/>
          <p:cNvSpPr>
            <a:spLocks noGrp="1"/>
          </p:cNvSpPr>
          <p:nvPr>
            <p:ph idx="1"/>
          </p:nvPr>
        </p:nvSpPr>
        <p:spPr/>
        <p:txBody>
          <a:bodyPr/>
          <a:lstStyle/>
          <a:p>
            <a:pPr>
              <a:defRPr sz="1800"/>
            </a:pPr>
            <a:r>
              <a:t>Eine Ertüchtigung kann möglich sein, wenn die vorhandenen Balken trotz vorhandener Mängel noch eine ausreichende Resttragfähigkeit aufweisen. Dann wird die bestehende Konstruktion ergänzt, statt die gesamte Lastabtragung zu erneuern. Typische Maßnahmen sind zusätzliche Beplankungen auf den Balken, Stahlprofile oder Holzwerkstoff-Verstärkungen an der Balkenunterseite, Hilfsbalken neben dem Bestand sowie Querverbände oder Schwingungstilger. Welche Maßnahme tatsächlich geeignet ist, hängt vom konkreten Bestand ab. Ob eine Verstärkung ausreicht, kann daher nicht pauschal anhand eines allgemeinen Schadensbildes festgelegt werden. Vor der Planung 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Ertüchtigung grundsätzlich infrage kommt</a:t>
            </a:r>
          </a:p>
        </p:txBody>
      </p:sp>
      <p:sp>
        <p:nvSpPr>
          <p:cNvPr id="3" name="Content Placeholder 2"/>
          <p:cNvSpPr>
            <a:spLocks noGrp="1"/>
          </p:cNvSpPr>
          <p:nvPr>
            <p:ph idx="1"/>
          </p:nvPr>
        </p:nvSpPr>
        <p:spPr/>
        <p:txBody>
          <a:bodyPr/>
          <a:lstStyle/>
          <a:p>
            <a:pPr>
              <a:defRPr sz="1800"/>
            </a:pPr>
            <a:r>
              <a:t>st eine Begutachtung erforderlich, die den einzelnen Balken und seine Einbindung in das Gesamtsystem betrachtet.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Erkennungsmerkmale für einen vollständigen Austausch</a:t>
            </a:r>
          </a:p>
        </p:txBody>
      </p:sp>
      <p:sp>
        <p:nvSpPr>
          <p:cNvPr id="3" name="Content Placeholder 2"/>
          <p:cNvSpPr>
            <a:spLocks noGrp="1"/>
          </p:cNvSpPr>
          <p:nvPr>
            <p:ph idx="1"/>
          </p:nvPr>
        </p:nvSpPr>
        <p:spPr/>
        <p:txBody>
          <a:bodyPr/>
          <a:lstStyle/>
          <a:p>
            <a:pPr>
              <a:defRPr sz="1800"/>
            </a:pPr>
            <a:r>
              <a:t>Ein vollständiger Austausch wird grundsätzlich dann erforderlich, wenn die Balken durch Fäulnis, Insektenbefall oder statische Überlastung so geschädigt sind, dass eine Verstärkung unwirtschaftlich wäre oder baurechtlich nicht ausreicht. Das Austauschen greift tiefer in die Bausubstanz ein. Dabei werden auch die Auflagerbereiche an den Wänden berührt. Gerade beschädigte oder mangelhafte Auflager sind kritisch, weil sie nicht nur den einzelnen Balken, sondern den gesamten Lastabtrag betreffen. Die Entscheidung zwischen Erhalt und Austausch sollte deshalb nicht allein über die sichtbare Schädigung eines Balkens getroffen werden. Entscheidend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Erkennungsmerkmale für einen vollständigen Austausch</a:t>
            </a:r>
          </a:p>
        </p:txBody>
      </p:sp>
      <p:sp>
        <p:nvSpPr>
          <p:cNvPr id="3" name="Content Placeholder 2"/>
          <p:cNvSpPr>
            <a:spLocks noGrp="1"/>
          </p:cNvSpPr>
          <p:nvPr>
            <p:ph idx="1"/>
          </p:nvPr>
        </p:nvSpPr>
        <p:spPr/>
        <p:txBody>
          <a:bodyPr/>
          <a:lstStyle/>
          <a:p>
            <a:pPr>
              <a:defRPr sz="1800"/>
            </a:pPr>
            <a:r>
              <a:t>t, ob Resttragfähigkeit, Sicherheit und ein sinnvoller, dauerhaft funktionierender Zustand durch eine Verstärkung hergestellt werden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angrenzenden Bauteile in die Prüfung gehören</a:t>
            </a:r>
          </a:p>
        </p:txBody>
      </p:sp>
      <p:sp>
        <p:nvSpPr>
          <p:cNvPr id="3" name="Content Placeholder 2"/>
          <p:cNvSpPr>
            <a:spLocks noGrp="1"/>
          </p:cNvSpPr>
          <p:nvPr>
            <p:ph idx="1"/>
          </p:nvPr>
        </p:nvSpPr>
        <p:spPr/>
        <p:txBody>
          <a:bodyPr/>
          <a:lstStyle/>
          <a:p>
            <a:pPr>
              <a:defRPr sz="1800"/>
            </a:pPr>
            <a:r>
              <a:t>Bei einer Holzbalkendecke müssen neben den Balken auch Treppenöffnungen, Schornsteine und nachträglich eingebaute Installationen berücksichtigt werden. Eine Ertüchtigung darf den Lastweg über diese Bereiche nicht unterbrechen. Lokale Eingriffe ohne Blick auf das Gesamtsystem können andernorts neue Schäden verursachen. Auch der Fußboden- und Deckenaufbau ist relevant: Bodenbelag, Dämmschichten und eventuelle Schüttungen gehören nicht zum Tragwerk, beeinflussen aber Steifigkeit und Schwingungsverhalten. Ein veränderter Aufbau kann die Wirkung einer Verstärkung daher unterstützen oder behindern. Schall- und Brandschutzanforderungen müssen für 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angrenzenden Bauteile in die Prüfung gehören</a:t>
            </a:r>
          </a:p>
        </p:txBody>
      </p:sp>
      <p:sp>
        <p:nvSpPr>
          <p:cNvPr id="3" name="Content Placeholder 2"/>
          <p:cNvSpPr>
            <a:spLocks noGrp="1"/>
          </p:cNvSpPr>
          <p:nvPr>
            <p:ph idx="1"/>
          </p:nvPr>
        </p:nvSpPr>
        <p:spPr/>
        <p:txBody>
          <a:bodyPr/>
          <a:lstStyle/>
          <a:p>
            <a:pPr>
              <a:defRPr sz="1800"/>
            </a:pPr>
            <a:r>
              <a:t>tüchtigung und Austausch gleichermaßen berücksichtigt werden, einschließlich der Anschlüsse und Übergänge zu angrenzenden Geschossen und Räumen.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belastbare Entscheidung sammeln</a:t>
            </a:r>
          </a:p>
        </p:txBody>
      </p:sp>
      <p:sp>
        <p:nvSpPr>
          <p:cNvPr id="3" name="Content Placeholder 2"/>
          <p:cNvSpPr>
            <a:spLocks noGrp="1"/>
          </p:cNvSpPr>
          <p:nvPr>
            <p:ph idx="1"/>
          </p:nvPr>
        </p:nvSpPr>
        <p:spPr/>
        <p:txBody>
          <a:bodyPr/>
          <a:lstStyle/>
          <a:p>
            <a:pPr>
              <a:defRPr sz="1800"/>
            </a:pPr>
            <a:r>
              <a:t>Für die Beurteilung helfen frühere Gutachten oder Prüfberichte, Informationen über durchgeführte Umbauten sowie eine Schadensdokumentation mit Fotos und Maßen. Angaben zu Feuchtigkeitsereignissen, Undichtigkeiten und früheren Schäden ergänzen das Bild. Gerade bei älteren Gebäuden ist wichtig, welche Veränderungen die ursprüngliche Konstruktion überlagert haben. So kann der Umfang fachlich eingeordnet werden, bevor über Ertüchtigung oder Austausch entschieden wird. Mehr zum Thema Holzbalkendecke ertüchtigen statt austauschen bietet der verknüpfte Leitfaden. Die zweite Verknüpfung führt ebenfalls zur thematischen Einführung in die Prüfung einer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belastbare Entscheidung sammeln</a:t>
            </a:r>
          </a:p>
        </p:txBody>
      </p:sp>
      <p:sp>
        <p:nvSpPr>
          <p:cNvPr id="3" name="Content Placeholder 2"/>
          <p:cNvSpPr>
            <a:spLocks noGrp="1"/>
          </p:cNvSpPr>
          <p:nvPr>
            <p:ph idx="1"/>
          </p:nvPr>
        </p:nvSpPr>
        <p:spPr/>
        <p:txBody>
          <a:bodyPr/>
          <a:lstStyle/>
          <a:p>
            <a:pPr>
              <a:defRPr sz="1800"/>
            </a:pPr>
            <a:r>
              <a:t> Holzbalkendecke.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Holzbalkendecke ertüchtigen statt austauschen: Wann dieser Weg möglich ist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