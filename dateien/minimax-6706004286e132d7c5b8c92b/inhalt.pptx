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duesseldorf/holzanbau-gruendung-setzungsverhalten-bestand/" TargetMode="External"/><Relationship Id="rId3" Type="http://schemas.openxmlformats.org/officeDocument/2006/relationships/hyperlink" Target="https://holzundhaus.github.io/holzwerkduesseldorf/dateien/minimax-6706004286e132d7c5b8c92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Holzanbau: Gründung und Setzungsverhalten getrennt vom Bestand planen · Erklärende Präsentation</a:t>
            </a:r>
          </a:p>
        </p:txBody>
      </p:sp>
      <p:sp>
        <p:nvSpPr>
          <p:cNvPr id="3" name="Content Placeholder 2"/>
          <p:cNvSpPr>
            <a:spLocks noGrp="1"/>
          </p:cNvSpPr>
          <p:nvPr>
            <p:ph idx="1"/>
          </p:nvPr>
        </p:nvSpPr>
        <p:spPr/>
        <p:txBody>
          <a:bodyPr/>
          <a:lstStyle/>
          <a:p>
            <a:r>
              <a:t>Überblick: Bei einem Holzanbau, der an ein bestehendes Haus anschließt, darf die Verbindung nicht allein architektonisch betrachtet werden. Gründung, Bodenreaktionen und unterschiedliche Setzungen bestimmen mit, ob Wände, Dach und Ausbau dauerhaft funktionieren. Der folgende Leitfaden zeigt, welche Bestandsinformationen sinnvoll sind und welche Entscheidungen vor der Planung getroffen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Gründung und Setzungsverhalten getrennt geplant werden</a:t>
            </a:r>
          </a:p>
        </p:txBody>
      </p:sp>
      <p:sp>
        <p:nvSpPr>
          <p:cNvPr id="3" name="Content Placeholder 2"/>
          <p:cNvSpPr>
            <a:spLocks noGrp="1"/>
          </p:cNvSpPr>
          <p:nvPr>
            <p:ph idx="1"/>
          </p:nvPr>
        </p:nvSpPr>
        <p:spPr/>
        <p:txBody>
          <a:bodyPr/>
          <a:lstStyle/>
          <a:p>
            <a:pPr>
              <a:defRPr sz="1800"/>
            </a:pPr>
            <a:r>
              <a:t>Ein Anbau übernimmt nicht automatisch die Tragstruktur des Hauses. Bestand und Neubau können sich in Gründungsart, Gründungstiefe, Steifigkeit und Alter unterscheiden. Auch Untergrund, Bodenaufbau und Grundwassersituation sind am Anbaustandort nicht zwangsläufig dieselben wie am Bestandsgebäude. Eine geringe zusätzliche Last kann einen bisher unbelasteten Boden erstmals deutlich beanspruchen. Ein schweres Bestandsgebäude reagiert möglicherweise anders auf geringe Bewegungen als ein leichter Holzanbau. Deshalb gehört die Frage, wie beide Bausysteme sich bewegen, früh in die Planung und nicht erst in die Ausführungsphase.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Informationen zum Bestand erforderlich sind</a:t>
            </a:r>
          </a:p>
        </p:txBody>
      </p:sp>
      <p:sp>
        <p:nvSpPr>
          <p:cNvPr id="3" name="Content Placeholder 2"/>
          <p:cNvSpPr>
            <a:spLocks noGrp="1"/>
          </p:cNvSpPr>
          <p:nvPr>
            <p:ph idx="1"/>
          </p:nvPr>
        </p:nvSpPr>
        <p:spPr/>
        <p:txBody>
          <a:bodyPr/>
          <a:lstStyle/>
          <a:p>
            <a:pPr>
              <a:defRPr sz="1800"/>
            </a:pPr>
            <a:r>
              <a:t>Für eine belastbare Beurteilung hilft zunächst eine möglichst genaue Bestandsaufnahme. Nützlich sind vorhandene Bestandspläne, Schnitte und Ansichten sowie Angaben zur bestehenden Gründung. Fotos der Anschlussseite, des Sockels und der angrenzenden Bodenflächen können Hinweise liefern. Relevant sind außerdem bekannte Setzungen, Risse oder frühere Umbauten. Ebenso wichtig sind die geplante Gründungsart des Anbaus und die Frage, welche zusätzlichen Lasten auf den Boden einwirken. Fehlen belastbare Unterlagen, sollte zunächst geklärt werden, wie der Bestand aufgenommen werden kann. Erst auf dieser Grundlage lassen sich Gründungs- und Anschlussva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Informationen zum Bestand erforderlich sind</a:t>
            </a:r>
          </a:p>
        </p:txBody>
      </p:sp>
      <p:sp>
        <p:nvSpPr>
          <p:cNvPr id="3" name="Content Placeholder 2"/>
          <p:cNvSpPr>
            <a:spLocks noGrp="1"/>
          </p:cNvSpPr>
          <p:nvPr>
            <p:ph idx="1"/>
          </p:nvPr>
        </p:nvSpPr>
        <p:spPr/>
        <p:txBody>
          <a:bodyPr/>
          <a:lstStyle/>
          <a:p>
            <a:pPr>
              <a:defRPr sz="1800"/>
            </a:pPr>
            <a:r>
              <a:t>rianten sinnvoll vergleichen.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Neubau können sich unterschiedlich setzen</a:t>
            </a:r>
          </a:p>
        </p:txBody>
      </p:sp>
      <p:sp>
        <p:nvSpPr>
          <p:cNvPr id="3" name="Content Placeholder 2"/>
          <p:cNvSpPr>
            <a:spLocks noGrp="1"/>
          </p:cNvSpPr>
          <p:nvPr>
            <p:ph idx="1"/>
          </p:nvPr>
        </p:nvSpPr>
        <p:spPr/>
        <p:txBody>
          <a:bodyPr/>
          <a:lstStyle/>
          <a:p>
            <a:pPr>
              <a:defRPr sz="1800"/>
            </a:pPr>
            <a:r>
              <a:t>Unter Setzung versteht man das Zusammendrücken des Bodens unter einer Last. Ein vorhandenes Haus hat seine wesentlichen Setzungen meist bereits erfahren, wobei kleinere Nachsetzungen möglich bleiben. Der neue Anbau belastet dagegen Boden, der bislang möglicherweise kaum oder gar nicht beansprucht wurde. Unterschiedliche Gründungstiefen führen zusätzlich zu unterschiedlichen Bezugshorizonten. Werden gemeinsame Bauteile ausgeführt, müssen sie diese Bewegungsunterschiede aufnehmen können. Dazu zählen beispielsweise eine gemeinsame Wand, ein durchlaufender Bodenbelag oder ein gemeinsames Dach. Eine Trennfuge, ein gleitender Anschluss oder eine 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Neubau können sich unterschiedlich setzen</a:t>
            </a:r>
          </a:p>
        </p:txBody>
      </p:sp>
      <p:sp>
        <p:nvSpPr>
          <p:cNvPr id="3" name="Content Placeholder 2"/>
          <p:cNvSpPr>
            <a:spLocks noGrp="1"/>
          </p:cNvSpPr>
          <p:nvPr>
            <p:ph idx="1"/>
          </p:nvPr>
        </p:nvSpPr>
        <p:spPr/>
        <p:txBody>
          <a:bodyPr/>
          <a:lstStyle/>
          <a:p>
            <a:pPr>
              <a:defRPr sz="1800"/>
            </a:pPr>
            <a:r>
              <a:t>sreichend dimensionierte Fuge kann dabei als Bewegungsreserve dienen, damit kleine Verschiebungen nicht unmittelbar sichtbare Schäden verursachen.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eigenständige Gründung als Planungsoption</a:t>
            </a:r>
          </a:p>
        </p:txBody>
      </p:sp>
      <p:sp>
        <p:nvSpPr>
          <p:cNvPr id="3" name="Content Placeholder 2"/>
          <p:cNvSpPr>
            <a:spLocks noGrp="1"/>
          </p:cNvSpPr>
          <p:nvPr>
            <p:ph idx="1"/>
          </p:nvPr>
        </p:nvSpPr>
        <p:spPr/>
        <p:txBody>
          <a:bodyPr/>
          <a:lstStyle/>
          <a:p>
            <a:pPr>
              <a:defRPr sz="1800"/>
            </a:pPr>
            <a:r>
              <a:t>Eine eigenständige Gründung des Anbaus kann sinnvoll sein, wenn sie den Bewegungsunterschied zuverlässig entkoppelt. Sie setzt eine Gründung voraus, die zur Tragfähigkeit des Bodens am Anbaustandort passt. Zusätzlich muss die Anschlusslinie konstruktiv mit einer klaren Trennfuge oder einem gleitenden Anschluss ausgearbeitet werden. Dabei ist bewusst zu entscheiden, welche Bauteile statisch zusammenwirken sollen und welche getrennt bleiben. Eine eigenständige Gründung bedeutet nicht, dass sämtliche Bauteile vollständig voneinander getrennt werden müssen. Entscheidend ist, dass die zugelassenen Bewegungen aufgenommen werden. Parallel dazu müsse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eigenständige Gründung als Planungsoption</a:t>
            </a:r>
          </a:p>
        </p:txBody>
      </p:sp>
      <p:sp>
        <p:nvSpPr>
          <p:cNvPr id="3" name="Content Placeholder 2"/>
          <p:cNvSpPr>
            <a:spLocks noGrp="1"/>
          </p:cNvSpPr>
          <p:nvPr>
            <p:ph idx="1"/>
          </p:nvPr>
        </p:nvSpPr>
        <p:spPr/>
        <p:txBody>
          <a:bodyPr/>
          <a:lstStyle/>
          <a:p>
            <a:pPr>
              <a:defRPr sz="1800"/>
            </a:pPr>
            <a:r>
              <a:t>n Feuchte, Luftdichtheit und Oberflächen am Übergang berücksichtigt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weitere Planung eines Holzanbaus</a:t>
            </a:r>
          </a:p>
        </p:txBody>
      </p:sp>
      <p:sp>
        <p:nvSpPr>
          <p:cNvPr id="3" name="Content Placeholder 2"/>
          <p:cNvSpPr>
            <a:spLocks noGrp="1"/>
          </p:cNvSpPr>
          <p:nvPr>
            <p:ph idx="1"/>
          </p:nvPr>
        </p:nvSpPr>
        <p:spPr/>
        <p:txBody>
          <a:bodyPr/>
          <a:lstStyle/>
          <a:p>
            <a:pPr>
              <a:defRPr sz="1800"/>
            </a:pPr>
            <a:r>
              <a:t>Vor der konkreten Ausarbeitung helfen folgende Fragen: Sind Gründungsangaben zum Bestand verfügbar? Welche Bodenverhältnisse herrschen am Anbaustandort? Soll der Anbau eine eigene Gründung erhalten oder an den Bestand angebunden werden? Welche Wände, Böden und Dachbereiche sollen statisch zusammenwirken? Wie werden Feuchte, Luftdichtheit und Oberflächen am Anschluss gelöst? Welche Lasten müssen über die Gründung abgetragen werden? Eine ehrliche Bestandsaufnahme schafft eine belastbare Grundlage für vergleichbare Angebote und vermeidet Annahmen, die später korrigiert werden müssen. Für den größeren Zusammenhang von Raumprogramm, Gebäudehülle,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weitere Planung eines Holzanbaus</a:t>
            </a:r>
          </a:p>
        </p:txBody>
      </p:sp>
      <p:sp>
        <p:nvSpPr>
          <p:cNvPr id="3" name="Content Placeholder 2"/>
          <p:cNvSpPr>
            <a:spLocks noGrp="1"/>
          </p:cNvSpPr>
          <p:nvPr>
            <p:ph idx="1"/>
          </p:nvPr>
        </p:nvSpPr>
        <p:spPr/>
        <p:txBody>
          <a:bodyPr/>
          <a:lstStyle/>
          <a:p>
            <a:pPr>
              <a:defRPr sz="1800"/>
            </a:pPr>
            <a:r>
              <a:t>Haustechnik und Erschließung bietet die Übersicht zum [Holzanbau in Düsseldorf](https://holzwerkduesseldorf.de/holzanbau/) einen ergänzenden Einstieg. Die Vertiefung zu [Gründung und Setzungsverhalten bei Holzanbauten](https://holzwerkduesseldorf.de/holzanbau/) behandelt die Anschlussfrage dagegen als eigenständige Planungsaufgabe.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Holzanbau: Gründung und Setzungsverhalten getrennt vom Bestand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