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uesseldorf/holzbalkon-pruefliste-bestandsaufnahme/" TargetMode="External"/><Relationship Id="rId3" Type="http://schemas.openxmlformats.org/officeDocument/2006/relationships/hyperlink" Target="https://holzundhaus.github.io/holzwerkduesseldorf/dateien/minimax-c65243f3e9de3671a8cd38e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sanieren: Prüfliste für die Bestandsaufnahme · Erklärende Präsentation</a:t>
            </a:r>
          </a:p>
        </p:txBody>
      </p:sp>
      <p:sp>
        <p:nvSpPr>
          <p:cNvPr id="3" name="Content Placeholder 2"/>
          <p:cNvSpPr>
            <a:spLocks noGrp="1"/>
          </p:cNvSpPr>
          <p:nvPr>
            <p:ph idx="1"/>
          </p:nvPr>
        </p:nvSpPr>
        <p:spPr/>
        <p:txBody>
          <a:bodyPr/>
          <a:lstStyle/>
          <a:p>
            <a:r>
              <a:t>Überblick: Die Sanierung eines Holzbalkons beginnt nicht mit dem ersten Material, sondern mit einer nachvollziehbaren Bestandsaufnahme. Sie klärt, wie der Balkon aufgebaut ist, wo Schäden erkennbar sind und welche Bereiche später zugänglich bleiben müssen. Die folgende Checkliste strukturiert den Blick vom Tragwerk über Belag und Geländer bis hin zu Nutzung, Wartung und Unterlagen. Sie hilft dabei, einen Termin vorzubereiten, Fotos und Maße zu sammeln und den gewünschten Leistungsumfang präzise zu beschreiben. Für eine erste Orientierung bietet die Prüfliste zur Bestandsaufnahme die passende Grundlage; bei konkreten Fragen zum Holzbalkon ist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Tragwerk und Anschluss am Gebäude zuerst klären</a:t>
            </a:r>
          </a:p>
        </p:txBody>
      </p:sp>
      <p:sp>
        <p:nvSpPr>
          <p:cNvPr id="3" name="Content Placeholder 2"/>
          <p:cNvSpPr>
            <a:spLocks noGrp="1"/>
          </p:cNvSpPr>
          <p:nvPr>
            <p:ph idx="1"/>
          </p:nvPr>
        </p:nvSpPr>
        <p:spPr/>
        <p:txBody>
          <a:bodyPr/>
          <a:lstStyle/>
          <a:p>
            <a:pPr>
              <a:defRPr sz="1800"/>
            </a:pPr>
            <a:r>
              <a:t>Am Anfang steht die Frage, wie der Balkon steht und wie er am Gebäude angeschlossen ist. Erst wenn Tragwerk, Belag und Geländer voneinander abgegrenzt sind, lässt sich einschätzen, ob lediglich der Belag erneuert werden soll oder ob tragende Teile mitbearbeitet werden müssen.</a:t>
            </a:r>
          </a:p>
          <a:p>
            <a:pPr>
              <a:defRPr sz="1800"/>
            </a:pPr>
          </a:p>
          <a:p>
            <a:pPr>
              <a:defRPr sz="1800"/>
            </a:pPr>
            <a:r>
              <a:t>Bei der Inspektion werden sichtbare Stützen, Kragarme und Stahllaschen sowie die darauf ruhenden Auflager erfasst. Schrauben, Balkenschuhe, Stahlteile und andere sichtbare Verbindungen werden auf Korrosion, Rostspuren oder Verformung untersucht. An Balkenköpfen sind dunkle Verfärbungen, Druckstellen oder Faulstellen zu notieren. Solche Beobachtungen werden nicht automat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Tragwerk und Anschluss am Gebäude zuerst klären</a:t>
            </a:r>
          </a:p>
        </p:txBody>
      </p:sp>
      <p:sp>
        <p:nvSpPr>
          <p:cNvPr id="3" name="Content Placeholder 2"/>
          <p:cNvSpPr>
            <a:spLocks noGrp="1"/>
          </p:cNvSpPr>
          <p:nvPr>
            <p:ph idx="1"/>
          </p:nvPr>
        </p:nvSpPr>
        <p:spPr/>
        <p:txBody>
          <a:bodyPr/>
          <a:lstStyle/>
          <a:p>
            <a:pPr>
              <a:defRPr sz="1800"/>
            </a:pPr>
            <a:r>
              <a:t>isch bewertet, sondern geben Aufschluss darüber, welche Bereiche in die weitere Prüfung einbezogen werden müssen.</a:t>
            </a:r>
          </a:p>
          <a:p>
            <a:pPr>
              <a:defRPr sz="1800"/>
            </a:pPr>
          </a:p>
          <a:p>
            <a:pPr>
              <a:defRPr sz="1800"/>
            </a:pPr>
            <a:r>
              <a:t>Verdeckte Anschlüsse benötigen eine gesonderte Betrachtung. Dazu gehören die Einbindung in das Gebäude, die Befestigung am Geschossdeckenanschluss und die Frage, ob diese Bereiche später kontrollierbar bleiben oder verschlossen werden. Eine bloße Aufnahme der sichtbaren Seite reicht deshalb nicht aus. Besonders wichtig ist außerdem, ob die gewünschte Erneuerung den Zugang zu Auflagern und Anschlüssen dauerhaft verhindern würde.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Belag, Geländer und Wasserführung im Zusammenhang beurteilen</a:t>
            </a:r>
          </a:p>
        </p:txBody>
      </p:sp>
      <p:sp>
        <p:nvSpPr>
          <p:cNvPr id="3" name="Content Placeholder 2"/>
          <p:cNvSpPr>
            <a:spLocks noGrp="1"/>
          </p:cNvSpPr>
          <p:nvPr>
            <p:ph idx="1"/>
          </p:nvPr>
        </p:nvSpPr>
        <p:spPr/>
        <p:txBody>
          <a:bodyPr/>
          <a:lstStyle/>
          <a:p>
            <a:pPr>
              <a:defRPr sz="1800"/>
            </a:pPr>
            <a:r>
              <a:t>Dielen und Geländer sind sichtbar, sie sind aber nicht automatisch die tragenden Bauteile. Beide müssen im Zusammenhang mit dem Balkonaufbau betrachtet werden. Beim Belag werden der Auflagerabstand, die Befestigung und das Oberflächenbild erfasst. Durchbiegung, wippende Bereiche sowie sichtbare Fäulnis an Brettenden gehören ebenso zur Dokumentation wie Risse, Vergrauung, stehende Nässe oder Moose. Bei der Befestigung werden sichtbare Schrauben, Nägel oder verdeckte Clips auf festen Sitz geprüft.</a:t>
            </a:r>
          </a:p>
          <a:p>
            <a:pPr>
              <a:defRPr sz="1800"/>
            </a:pPr>
          </a:p>
          <a:p>
            <a:pPr>
              <a:defRPr sz="1800"/>
            </a:pPr>
            <a:r>
              <a:t>Beim Geländer interessieren die Befestigung am Balkonaufbau, Holm, Pfosten, Füllung und die Anschlüsse an den Pfostenfüßen. Wackelnde oder verformte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Belag, Geländer und Wasserführung im Zusammenhang beurteilen</a:t>
            </a:r>
          </a:p>
        </p:txBody>
      </p:sp>
      <p:sp>
        <p:nvSpPr>
          <p:cNvPr id="3" name="Content Placeholder 2"/>
          <p:cNvSpPr>
            <a:spLocks noGrp="1"/>
          </p:cNvSpPr>
          <p:nvPr>
            <p:ph idx="1"/>
          </p:nvPr>
        </p:nvSpPr>
        <p:spPr/>
        <p:txBody>
          <a:bodyPr/>
          <a:lstStyle/>
          <a:p>
            <a:pPr>
              <a:defRPr sz="1800"/>
            </a:pPr>
            <a:r>
              <a:t> Hölzer, Risse und lose wirkende Verbindungen werden notiert. Die Geländerhöhe oder einzelne Vorschriften werden hier nicht pauschal beurteilt; maßgeblich ist, welche konstruktiven und nutzungsbezogenen Fragen vorliegen.</a:t>
            </a:r>
          </a:p>
          <a:p>
            <a:pPr>
              <a:defRPr sz="1800"/>
            </a:pPr>
          </a:p>
          <a:p>
            <a:pPr>
              <a:defRPr sz="1800"/>
            </a:pPr>
            <a:r>
              <a:t>Bei der Witterungsplanung wird die Wasserführung examined. Gefälle, Tropfkanten, Blechanschlüsse und der Abfluss am Balkonrand gehören ebenso zur Prüfung wie Übergänge zur Holzfassade sowie Anschlüsse an Türen und Schwellen. Undichte oder hinterlaufende Anschlüsse können das Holz dauerhaft belasten. Details sollten deshalb nicht allein nach ihrem Material, sondern nach ihrer Funktion und ihrer späteren Kontrollierbarkeit aus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Belag, Geländer und Wasserführung im Zusammenhang beurteilen</a:t>
            </a:r>
          </a:p>
        </p:txBody>
      </p:sp>
      <p:sp>
        <p:nvSpPr>
          <p:cNvPr id="3" name="Content Placeholder 2"/>
          <p:cNvSpPr>
            <a:spLocks noGrp="1"/>
          </p:cNvSpPr>
          <p:nvPr>
            <p:ph idx="1"/>
          </p:nvPr>
        </p:nvSpPr>
        <p:spPr/>
        <p:txBody>
          <a:bodyPr/>
          <a:lstStyle/>
          <a:p>
            <a:pPr>
              <a:defRPr sz="1800"/>
            </a:pPr>
            <a:r>
              <a:t>gewählt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Nutzung und Wartung in die Bestandsaufnahme einbeziehen</a:t>
            </a:r>
          </a:p>
        </p:txBody>
      </p:sp>
      <p:sp>
        <p:nvSpPr>
          <p:cNvPr id="3" name="Content Placeholder 2"/>
          <p:cNvSpPr>
            <a:spLocks noGrp="1"/>
          </p:cNvSpPr>
          <p:nvPr>
            <p:ph idx="1"/>
          </p:nvPr>
        </p:nvSpPr>
        <p:spPr/>
        <p:txBody>
          <a:bodyPr/>
          <a:lstStyle/>
          <a:p>
            <a:pPr>
              <a:defRPr sz="1800"/>
            </a:pPr>
            <a:r>
              <a:t>Auch die geplante Nutzung verändert den Sanierungsumfang. Zu klären ist, ob der Balkon nur als Zugang dient, als Pflanzbereich genutzt wird oder eine zweite Aufenthaltsfläche werden soll. Davon abhängig können unterschiedliche Anforderungen an Oberflächen, Holzschutz, Entwässerung und die zugängliche Ausführung bestehen.</a:t>
            </a:r>
          </a:p>
          <a:p>
            <a:pPr>
              <a:defRPr sz="1800"/>
            </a:pPr>
          </a:p>
          <a:p>
            <a:pPr>
              <a:defRPr sz="1800"/>
            </a:pPr>
            <a:r>
              <a:t>Ebenso wichtig ist die Frage, welche Wartung künftig realistisch geleistet werden kann. Regelmäßige Kontrollen von Holz, Anschlüssen und Wasserablauf erfordern erreichbare Bereiche. Eine Konstruktion, die dauerhaft verschlossen wird, kann spätere Inspektionen erschweren. Allgemeine Pflegehinweise ersetzen keine Prüfung des 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Nutzung und Wartung in die Bestandsaufnahme einbeziehen</a:t>
            </a:r>
          </a:p>
        </p:txBody>
      </p:sp>
      <p:sp>
        <p:nvSpPr>
          <p:cNvPr id="3" name="Content Placeholder 2"/>
          <p:cNvSpPr>
            <a:spLocks noGrp="1"/>
          </p:cNvSpPr>
          <p:nvPr>
            <p:ph idx="1"/>
          </p:nvPr>
        </p:nvSpPr>
        <p:spPr/>
        <p:txBody>
          <a:bodyPr/>
          <a:lstStyle/>
          <a:p>
            <a:pPr>
              <a:defRPr sz="1800"/>
            </a:pPr>
            <a:r>
              <a:t>ragenden Balkons und begründen keine allgemeinen Haltbarkeitsversprechen.</a:t>
            </a:r>
          </a:p>
          <a:p>
            <a:pPr>
              <a:defRPr sz="1800"/>
            </a:pPr>
          </a:p>
          <a:p>
            <a:pPr>
              <a:defRPr sz="1800"/>
            </a:pPr>
            <a:r>
              <a:t>Vor Ort sollte deshalb nicht nur der gewünschte Endzustand beschrieben werden. Hilfreich sind Angaben zur bisherigen Nutzung, zu bekannten Schäden, zu früheren Umbauten und dazu, welche Wartungsarbeiten bereits möglich waren. So lässt sich unterscheiden, ob einzelne Details erneuert werden sollen oder ob eine umfassendere Planung erforderlich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Unterlagen für Anfrage, Angebot und Ausführung vorbereiten</a:t>
            </a:r>
          </a:p>
        </p:txBody>
      </p:sp>
      <p:sp>
        <p:nvSpPr>
          <p:cNvPr id="3" name="Content Placeholder 2"/>
          <p:cNvSpPr>
            <a:spLocks noGrp="1"/>
          </p:cNvSpPr>
          <p:nvPr>
            <p:ph idx="1"/>
          </p:nvPr>
        </p:nvSpPr>
        <p:spPr/>
        <p:txBody>
          <a:bodyPr/>
          <a:lstStyle/>
          <a:p>
            <a:pPr>
              <a:defRPr sz="1800"/>
            </a:pPr>
            <a:r>
              <a:t>Eine vergleichbare Anfrage benötigt mehr als ein Foto der sichtbaren Seite. Für die weitere Bearbeitung helfen übersichtliche Unterlagen: Projektadresse in Düsseldorf, bisherige oder geplante Nutzung, grobe Maße sowie vorhandene Zeichnungen oder Nachweise. Ergänzt werden können Fotos, die Konstruktionsbeschreibung und bekannte Schadstellen.</a:t>
            </a:r>
          </a:p>
          <a:p>
            <a:pPr>
              <a:defRPr sz="1800"/>
            </a:pPr>
          </a:p>
          <a:p>
            <a:pPr>
              <a:defRPr sz="1800"/>
            </a:pPr>
            <a:r>
              <a:t>Wichtig ist eine klare Unterscheidung zwischen Tragwerk, Belag, Geländer, Anschlüssen und Wasserführung. Angaben zum Zustand von Dielen, Pfosten, Pfostenfüßen, sichtbaren Metallteilen und Holzbalkenköpfen erleichtern die Zuordnung. Auch der Zugang zu Auflagern und Anschlüssen sollte beschrieben werden.</a:t>
            </a:r>
          </a:p>
          <a:p>
            <a:pPr>
              <a:defRPr sz="1800"/>
            </a:pPr>
          </a:p>
          <a:p>
            <a:pPr>
              <a:defRPr sz="1800"/>
            </a:pPr>
            <a:r>
              <a:t>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Unterlagen für Anfrage, Angebot und Ausführung vorbereiten</a:t>
            </a:r>
          </a:p>
        </p:txBody>
      </p:sp>
      <p:sp>
        <p:nvSpPr>
          <p:cNvPr id="3" name="Content Placeholder 2"/>
          <p:cNvSpPr>
            <a:spLocks noGrp="1"/>
          </p:cNvSpPr>
          <p:nvPr>
            <p:ph idx="1"/>
          </p:nvPr>
        </p:nvSpPr>
        <p:spPr/>
        <p:txBody>
          <a:bodyPr/>
          <a:lstStyle/>
          <a:p>
            <a:pPr>
              <a:defRPr sz="1800"/>
            </a:pPr>
            <a:r>
              <a:t>ür die Anfrage kann abschließend festgehalten werden, welche Arbeiten gewünscht sind und welcher zeitliche Rahmen gilt. Das Angebot wird dadurch nicht automatisch vollständig, aber die Anfrage ist genauer und besser vorbereitet. Die kompakte Übersicht zur Holzbalkon-Bestandsaufnahme von Holzwerk Düsseldorf unterstützt diesen ersten Schritt und hilft, die notwendigen Informationen an einem Ort zu bündeln.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sanieren: Prüfliste für die Bestandsaufnahme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