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uesseldorf.wordpress.com/2026/10/20/terrassenueberdachung-holz-wandanschluss-wasserfuehrung/" TargetMode="External"/><Relationship Id="rId3" Type="http://schemas.openxmlformats.org/officeDocument/2006/relationships/hyperlink" Target="https://holzundhaus.github.io/holzwerkduesseldorf/dateien/minimax-f9fef9d83c884997457bfb3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und Wasserführung bei einer Terrassenüberdachung aus Holz im Detail · Erklärende Präsentation</a:t>
            </a:r>
          </a:p>
        </p:txBody>
      </p:sp>
      <p:sp>
        <p:nvSpPr>
          <p:cNvPr id="3" name="Content Placeholder 2"/>
          <p:cNvSpPr>
            <a:spLocks noGrp="1"/>
          </p:cNvSpPr>
          <p:nvPr>
            <p:ph idx="1"/>
          </p:nvPr>
        </p:nvSpPr>
        <p:spPr/>
        <p:txBody>
          <a:bodyPr/>
          <a:lstStyle/>
          <a:p>
            <a:r>
              <a:t>Überblick: Eine Terrassenüberdachung aus Holz wirft vor der Montage eine zentrale Frage auf: Wie werden Wandanschluss und Wasserführung geplant, damit Feuchtigkeit weder in die Hauswand noch in die Konstruktion eindringt? Wer diese beiden Aspekte frühzeitig durchdenkt, spart sich nachträgliche Korrekturen und schützt das Bauwerk dauerhaft. Der folgende Ratgeber beleuchtet die wesentlichen Planungsschritte, die vor einer Anfrage oder Beauftragung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sorgfältige Planung erfordert</a:t>
            </a:r>
          </a:p>
        </p:txBody>
      </p:sp>
      <p:sp>
        <p:nvSpPr>
          <p:cNvPr id="3" name="Content Placeholder 2"/>
          <p:cNvSpPr>
            <a:spLocks noGrp="1"/>
          </p:cNvSpPr>
          <p:nvPr>
            <p:ph idx="1"/>
          </p:nvPr>
        </p:nvSpPr>
        <p:spPr/>
        <p:txBody>
          <a:bodyPr/>
          <a:lstStyle/>
          <a:p>
            <a:pPr>
              <a:defRPr sz="1800"/>
            </a:pPr>
            <a:r>
              <a:t>Der Anschluss einer Holzüberdachung an die Hauswand zählt zu den kritischsten Stellen der gesamten Konstruktion. Hier treffen zwei unterschiedliche Bauteile aufeinander, die sich in ihrem Materialverhalten unterscheiden. Die Hauswand ist in der Regel statisch, während das Holz auf Temperatur- und Feuchtigkeitsschwankungen reagiert und sich geringfügig bewegt. Ein fachgerechter Wandanschluss muss diese Bewegung aufnehmen, ohne dass Feuchtigkeit in den Wandaufbau eindringt. Gleichzeitig muss die Lastabtragung der Dachkonstruktion in ein tragfähiges Wandbauteil gewährleistet sein. Vor der Montage ist daher zu prüfen, welcher Wandaufbau tatsächli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sorgfältige Planung erfordert</a:t>
            </a:r>
          </a:p>
        </p:txBody>
      </p:sp>
      <p:sp>
        <p:nvSpPr>
          <p:cNvPr id="3" name="Content Placeholder 2"/>
          <p:cNvSpPr>
            <a:spLocks noGrp="1"/>
          </p:cNvSpPr>
          <p:nvPr>
            <p:ph idx="1"/>
          </p:nvPr>
        </p:nvSpPr>
        <p:spPr/>
        <p:txBody>
          <a:bodyPr/>
          <a:lstStyle/>
          <a:p>
            <a:pPr>
              <a:defRPr sz="1800"/>
            </a:pPr>
            <a:r>
              <a:t>ch vorliegt – etwa Massivmauerwerk, Holzständerwerk oder ein wärmegedämmtes Verbundsystem – und an welcher Stelle die Befestigung statisch sinnvoll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Höhe und Position des Anschlusses</a:t>
            </a:r>
          </a:p>
        </p:txBody>
      </p:sp>
      <p:sp>
        <p:nvSpPr>
          <p:cNvPr id="3" name="Content Placeholder 2"/>
          <p:cNvSpPr>
            <a:spLocks noGrp="1"/>
          </p:cNvSpPr>
          <p:nvPr>
            <p:ph idx="1"/>
          </p:nvPr>
        </p:nvSpPr>
        <p:spPr/>
        <p:txBody>
          <a:bodyPr/>
          <a:lstStyle/>
          <a:p>
            <a:pPr>
              <a:defRPr sz="1800"/>
            </a:pPr>
            <a:r>
              <a:t>Die Höhe des Wandanschlusses bestimmt maßgeblich, wie viel Spielraum für Hinterlüftung, Blechanschluss und Fassadenübergang bleibt. Liegt der Anschluss auf Höhe der Geschossdecke, unter einem Fenster oder im Bereich eines Giebels? Jede Position bringt eigene Anforderungen mit sich. Besonders wichtig ist der Abstand zur Oberkante des späteren Terrassenbelags sowie zu Fenstersimsen oder Türen. Leitungen, Rollladenkästen oder Lüftungsöffnungen in der Wand können den geplanten Anschluss behindern und müssen vorab identifiziert werden. Auch die Frage, wie das Anschlussblech in die Fassade eingebunden wird – etwa eingeputzt, eingeklemmt oder mit 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Höhe und Position des Anschlusses</a:t>
            </a:r>
          </a:p>
        </p:txBody>
      </p:sp>
      <p:sp>
        <p:nvSpPr>
          <p:cNvPr id="3" name="Content Placeholder 2"/>
          <p:cNvSpPr>
            <a:spLocks noGrp="1"/>
          </p:cNvSpPr>
          <p:nvPr>
            <p:ph idx="1"/>
          </p:nvPr>
        </p:nvSpPr>
        <p:spPr/>
        <p:txBody>
          <a:bodyPr/>
          <a:lstStyle/>
          <a:p>
            <a:pPr>
              <a:defRPr sz="1800"/>
            </a:pPr>
            <a:r>
              <a:t>ppleiste – sollte vor der Montage feststehen.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Wohin soll das Niederschlagswasser?</a:t>
            </a:r>
          </a:p>
        </p:txBody>
      </p:sp>
      <p:sp>
        <p:nvSpPr>
          <p:cNvPr id="3" name="Content Placeholder 2"/>
          <p:cNvSpPr>
            <a:spLocks noGrp="1"/>
          </p:cNvSpPr>
          <p:nvPr>
            <p:ph idx="1"/>
          </p:nvPr>
        </p:nvSpPr>
        <p:spPr/>
        <p:txBody>
          <a:bodyPr/>
          <a:lstStyle/>
          <a:p>
            <a:pPr>
              <a:defRPr sz="1800"/>
            </a:pPr>
            <a:r>
              <a:t>Bevor die erste Latte verbaut wird, muss klar sein, wohin Regenwasser von der Dachfläche geleitet wird. Grundsätzlich gibt es mehrere Möglichkeiten: freies Abtropfen über die Vorderkante, Aufnahme in eine Rinne mit Fallrohr, seitliche Ableitung in eine bestehende Entwässerung oder direkte Einleitung in eine Versickerungsanlage. Letztere ist in Düsseldorf je nach Grundstück baurechtlich an Bedingungen geknüpft. Die Wahl der Entwässerungsrichtung muss zum Gefälle der Dachfläche, zur Sparrenlage und zu den geplanten Stützenpositionen passen. Eine nachträgliche Änderung ist aufwendig und teuer.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und Dachform richtig dimensionieren</a:t>
            </a:r>
          </a:p>
        </p:txBody>
      </p:sp>
      <p:sp>
        <p:nvSpPr>
          <p:cNvPr id="3" name="Content Placeholder 2"/>
          <p:cNvSpPr>
            <a:spLocks noGrp="1"/>
          </p:cNvSpPr>
          <p:nvPr>
            <p:ph idx="1"/>
          </p:nvPr>
        </p:nvSpPr>
        <p:spPr/>
        <p:txBody>
          <a:bodyPr/>
          <a:lstStyle/>
          <a:p>
            <a:pPr>
              <a:defRPr sz="1800"/>
            </a:pPr>
            <a:r>
              <a:t>Bei Terrassenüberdachungen aus Holz ist das Gefälle oft durch die Anschlusshöhe am Gebäude begrenzt. Dennoch muss ein Mindestgefälle eingehalten werden, um stehendes Wasser zu vermeiden. Stehendes Wasser am Wandanschluss kann hinter das Anschlussblech gedrückt werden und dort unbemerkt Schäden verursachen. Auch Kehlen, Übergänge oder Durchdringungen im Dach verdienen besondere Aufmerksamkeit, da sich dort Wasser sammeln kann. Das Gefälle sollte so geplant sein, dass es zu den Stützenpositionen und zur darunterliegenden Holzterrasse passt, ohne den Zugang oder die Nutzung einzuschränken.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Übergang zwischen Dach und Terrassenbelag</a:t>
            </a:r>
          </a:p>
        </p:txBody>
      </p:sp>
      <p:sp>
        <p:nvSpPr>
          <p:cNvPr id="3" name="Content Placeholder 2"/>
          <p:cNvSpPr>
            <a:spLocks noGrp="1"/>
          </p:cNvSpPr>
          <p:nvPr>
            <p:ph idx="1"/>
          </p:nvPr>
        </p:nvSpPr>
        <p:spPr/>
        <p:txBody>
          <a:bodyPr/>
          <a:lstStyle/>
          <a:p>
            <a:pPr>
              <a:defRPr sz="1800"/>
            </a:pPr>
            <a:r>
              <a:t>Viele Terrassenüberdachungen aus Holz enden über einer Holzterrasse. Das vom Dach kommende Wasser trifft dann auf den Belag, den Untergrund und die Stützenfüße. Dabei stellt sich die Frage, wie der Abstand zwischen Dacheindeckung und Terrassenbelag gestaltet wird und ob Spritzwasser am Sockel der Stützen eingeplant werden muss. Der Randbereich des Belags muss so entwässert werden, dass sich kein Wasser vor der Hauswand staut. Tropfkanten am Übergang können sinnvoll sein, um den Terrassenbelag zu schützen. Wichtig ist: Die Holzterrasse als Untergrund ersetzt keine sorgfältig geplante Wasserführung am Dach.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Anfrage: Was hilft</a:t>
            </a:r>
          </a:p>
        </p:txBody>
      </p:sp>
      <p:sp>
        <p:nvSpPr>
          <p:cNvPr id="3" name="Content Placeholder 2"/>
          <p:cNvSpPr>
            <a:spLocks noGrp="1"/>
          </p:cNvSpPr>
          <p:nvPr>
            <p:ph idx="1"/>
          </p:nvPr>
        </p:nvSpPr>
        <p:spPr/>
        <p:txBody>
          <a:bodyPr/>
          <a:lstStyle/>
          <a:p>
            <a:pPr>
              <a:defRPr sz="1800"/>
            </a:pPr>
            <a:r>
              <a:t>Je genauer die genannten Punkte vorab dokumentiert sind, desto vergleichbarer sind Angebote und desto sicherer lässt sich die Qualität der geplanten Ausführung beurteilen. Hilfreich zur Vorbereitung sind Fotos der Hauswand mit erkennbarem Aufbau und angrenzendem Bereich, ungefähre Maße von Anschlusshöhe, Dachtiefe und Stützenposition sowie bekannte Hindernisse wie Rollladenkästen oder außenliegende Leitungen. Eine kurze Skizze mit der grundsätzlichen Entwässerungsrichtung und dem gewünschten Anschlussprofil ergänzt die Unterlagen. Mit dieser Vorbereitung lassen sich Wandanschluss und Wasserführung so planen, dass die Terrassenüberdachung aus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Anfrage: Was hilft</a:t>
            </a:r>
          </a:p>
        </p:txBody>
      </p:sp>
      <p:sp>
        <p:nvSpPr>
          <p:cNvPr id="3" name="Content Placeholder 2"/>
          <p:cNvSpPr>
            <a:spLocks noGrp="1"/>
          </p:cNvSpPr>
          <p:nvPr>
            <p:ph idx="1"/>
          </p:nvPr>
        </p:nvSpPr>
        <p:spPr/>
        <p:txBody>
          <a:bodyPr/>
          <a:lstStyle/>
          <a:p>
            <a:pPr>
              <a:defRPr sz="1800"/>
            </a:pPr>
            <a:r>
              <a:t>Holz dauerhaft und fachgerecht an der Hauswand angeschlossen bleibt.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Wandanschluss und Wasserführung bei einer Terrassenüberdachung aus Holz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